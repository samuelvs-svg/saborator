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Somos [nombres], aprendices del programa Análisis y Desarrollo de Software, ficha [número]. Hoy presentamos Saborator, un sistema web para gestionar un restaurante de principio a fin.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Saborator conecta a todas las personas que participan en la atención de un restaurante. Se justifica porque la gestión tradicional genera errores y demoras, y porque el comensal ya espera servicios digitales.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es una sola falla, sino la suma de procesos manuales desconectados. Cada uno genera errores que se acumulan: platos equivocados, esperas largas y cajas que no cuadran.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es medible: sabemos que lo cumplimos cuando los seis roles operan con sus funciones, cada pedido tiene un estado y cada turno de caja se cierra con arqueo.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Usamos una arquitectura por capas. La interfaz principal está en vistas Razor de .NET y un módulo visual en React. El servidor aplica las reglas de negocio y usa SignalR para actualizar cocina en tiempo real. Los datos están en SQL Server y los pagos pasan por Wompi.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cliente consulta la carta, reserva su mesa en un plano interactivo, hace su pedido y puede seguirlo con un código sin llamar al restaurante. Mostrar en vivo (2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se resuelve el problema de las comandas en papel: el pedido viaja digitalmente del salón a la cocina y vuelve el aviso cuando está listo. Usar dos ventanas, una por rol (2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pago se hace con la pasarela Wompi. Si es aprobado, el sistema factura automáticamente y genera el comprobante. El monto lo calcula y verifica el servidor. En esta demostración no se realiza ningún cobro real (2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caja cada jornada queda registrada en un turno. Al cierre el sistema compara el efectivo esperado con el declarado y deja el historial de arqueos (2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administrador ve el estado del negocio en una sola pantalla, gestiona productos, personal y cupones, y puede auditar cualquier acción importante (2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las cuatro conclusiones y mencionar el trabajo futuro. Agradecer y abrir preguntas. Completar los datos de contacto.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2A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CB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4" name="Inicial"/>
          <p:cNvSpPr txBox="1"/>
          <p:nvPr/>
        </p:nvSpPr>
        <p:spPr>
          <a:xfrm>
            <a:off x="548640" y="640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0B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4000" dirty="0"/>
          </a:p>
        </p:txBody>
      </p:sp>
      <p:sp>
        <p:nvSpPr>
          <p:cNvPr id="5" name="Título"/>
          <p:cNvSpPr txBox="1"/>
          <p:nvPr/>
        </p:nvSpPr>
        <p:spPr>
          <a:xfrm>
            <a:off x="548640" y="16916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SABORATOR</a:t>
            </a:r>
            <a:endParaRPr lang="en-US" sz="4800" dirty="0"/>
          </a:p>
        </p:txBody>
      </p:sp>
      <p:sp>
        <p:nvSpPr>
          <p:cNvPr id="6" name="Subtítulo"/>
          <p:cNvSpPr txBox="1"/>
          <p:nvPr/>
        </p:nvSpPr>
        <p:spPr>
          <a:xfrm>
            <a:off x="548640" y="25146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integral para restaurantes</a:t>
            </a:r>
            <a:endParaRPr lang="en-US" sz="2000" dirty="0"/>
          </a:p>
        </p:txBody>
      </p:sp>
      <p:sp>
        <p:nvSpPr>
          <p:cNvPr id="7" name="Ficha"/>
          <p:cNvSpPr/>
          <p:nvPr/>
        </p:nvSpPr>
        <p:spPr>
          <a:xfrm>
            <a:off x="5897880" y="914400"/>
            <a:ext cx="2788920" cy="3200400"/>
          </a:xfrm>
          <a:prstGeom prst="roundRect">
            <a:avLst>
              <a:gd name="adj" fmla="val 3934"/>
            </a:avLst>
          </a:prstGeom>
          <a:solidFill>
            <a:srgbClr val="3D1420"/>
          </a:solidFill>
          <a:ln/>
        </p:spPr>
      </p:sp>
      <p:sp>
        <p:nvSpPr>
          <p:cNvPr id="8" name="Datos"/>
          <p:cNvSpPr txBox="1"/>
          <p:nvPr/>
        </p:nvSpPr>
        <p:spPr>
          <a:xfrm>
            <a:off x="6126480" y="109728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Aprendices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[Nombres y apellidos]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[Número de ficha]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Desarrollo de Software (ADSO)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[Centro de formación] - SENA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del instructor]</a:t>
            </a:r>
            <a:endParaRPr lang="en-US" sz="1200" dirty="0"/>
          </a:p>
        </p:txBody>
      </p:sp>
      <p:sp>
        <p:nvSpPr>
          <p:cNvPr id="9" name="Ciudad"/>
          <p:cNvSpPr txBox="1"/>
          <p:nvPr/>
        </p:nvSpPr>
        <p:spPr>
          <a:xfrm>
            <a:off x="54864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Barranquilla, [año]</a:t>
            </a:r>
            <a:endParaRPr lang="en-US" sz="14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CB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qué trata Saborator</a:t>
            </a:r>
            <a:endParaRPr lang="en-US" sz="3200" dirty="0"/>
          </a:p>
        </p:txBody>
      </p:sp>
      <p:sp>
        <p:nvSpPr>
          <p:cNvPr id="4" name="Tarjeta ¿Qué es?"/>
          <p:cNvSpPr/>
          <p:nvPr/>
        </p:nvSpPr>
        <p:spPr>
          <a:xfrm>
            <a:off x="457200" y="1188720"/>
            <a:ext cx="4023360" cy="2331720"/>
          </a:xfrm>
          <a:prstGeom prst="roundRect">
            <a:avLst>
              <a:gd name="adj" fmla="val 3922"/>
            </a:avLst>
          </a:prstGeom>
          <a:solidFill>
            <a:srgbClr val="F6EEF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es?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78308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que integra reservas, pedidos, cocina, domicilios, caja e inventario.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perfiles de usuario con acceso diferenciado.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en computador, tableta y celular.</a:t>
            </a:r>
            <a:endParaRPr lang="en-US" sz="1400" dirty="0"/>
          </a:p>
        </p:txBody>
      </p:sp>
      <p:sp>
        <p:nvSpPr>
          <p:cNvPr id="7" name="Tarjeta ¿Por qué se justifica?"/>
          <p:cNvSpPr/>
          <p:nvPr/>
        </p:nvSpPr>
        <p:spPr>
          <a:xfrm>
            <a:off x="4663440" y="1188720"/>
            <a:ext cx="4023360" cy="2331720"/>
          </a:xfrm>
          <a:prstGeom prst="roundRect">
            <a:avLst>
              <a:gd name="adj" fmla="val 3922"/>
            </a:avLst>
          </a:prstGeom>
          <a:solidFill>
            <a:srgbClr val="F6EEF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se justifica?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178308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restaurantes aún operan con papel, llamadas y cuentas manuales.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espera reservar, pedir y pagar en línea.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única reduce errores y da información al administrador.</a:t>
            </a:r>
            <a:endParaRPr lang="en-US" sz="1400" dirty="0"/>
          </a:p>
        </p:txBody>
      </p:sp>
      <p:sp>
        <p:nvSpPr>
          <p:cNvPr id="10" name="Etapa Reserva"/>
          <p:cNvSpPr/>
          <p:nvPr/>
        </p:nvSpPr>
        <p:spPr>
          <a:xfrm>
            <a:off x="457200" y="3840480"/>
            <a:ext cx="1280160" cy="566928"/>
          </a:xfrm>
          <a:prstGeom prst="roundRect">
            <a:avLst>
              <a:gd name="adj" fmla="val 50000"/>
            </a:avLst>
          </a:prstGeom>
          <a:solidFill>
            <a:srgbClr val="8E2C3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38404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</a:t>
            </a:r>
            <a:endParaRPr lang="en-US" sz="1400" dirty="0"/>
          </a:p>
        </p:txBody>
      </p:sp>
      <p:sp>
        <p:nvSpPr>
          <p:cNvPr id="12" name="Etapa Pedido"/>
          <p:cNvSpPr/>
          <p:nvPr/>
        </p:nvSpPr>
        <p:spPr>
          <a:xfrm>
            <a:off x="1847088" y="3840480"/>
            <a:ext cx="1280160" cy="566928"/>
          </a:xfrm>
          <a:prstGeom prst="roundRect">
            <a:avLst>
              <a:gd name="adj" fmla="val 50000"/>
            </a:avLst>
          </a:prstGeom>
          <a:solidFill>
            <a:srgbClr val="6B1E2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847088" y="38404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endParaRPr lang="en-US" sz="1400" dirty="0"/>
          </a:p>
        </p:txBody>
      </p:sp>
      <p:sp>
        <p:nvSpPr>
          <p:cNvPr id="14" name="Etapa Cocina"/>
          <p:cNvSpPr/>
          <p:nvPr/>
        </p:nvSpPr>
        <p:spPr>
          <a:xfrm>
            <a:off x="3236976" y="3840480"/>
            <a:ext cx="1280160" cy="566928"/>
          </a:xfrm>
          <a:prstGeom prst="roundRect">
            <a:avLst>
              <a:gd name="adj" fmla="val 50000"/>
            </a:avLst>
          </a:prstGeom>
          <a:solidFill>
            <a:srgbClr val="8E2C3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236976" y="38404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</a:t>
            </a:r>
            <a:endParaRPr lang="en-US" sz="1400" dirty="0"/>
          </a:p>
        </p:txBody>
      </p:sp>
      <p:sp>
        <p:nvSpPr>
          <p:cNvPr id="16" name="Etapa Entrega"/>
          <p:cNvSpPr/>
          <p:nvPr/>
        </p:nvSpPr>
        <p:spPr>
          <a:xfrm>
            <a:off x="4626864" y="3840480"/>
            <a:ext cx="1280160" cy="566928"/>
          </a:xfrm>
          <a:prstGeom prst="roundRect">
            <a:avLst>
              <a:gd name="adj" fmla="val 50000"/>
            </a:avLst>
          </a:prstGeom>
          <a:solidFill>
            <a:srgbClr val="6B1E2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626864" y="38404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400" dirty="0"/>
          </a:p>
        </p:txBody>
      </p:sp>
      <p:sp>
        <p:nvSpPr>
          <p:cNvPr id="18" name="Etapa Pago"/>
          <p:cNvSpPr/>
          <p:nvPr/>
        </p:nvSpPr>
        <p:spPr>
          <a:xfrm>
            <a:off x="6016752" y="3840480"/>
            <a:ext cx="1280160" cy="566928"/>
          </a:xfrm>
          <a:prstGeom prst="roundRect">
            <a:avLst>
              <a:gd name="adj" fmla="val 50000"/>
            </a:avLst>
          </a:prstGeom>
          <a:solidFill>
            <a:srgbClr val="8E2C3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016752" y="38404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endParaRPr lang="en-US" sz="1400" dirty="0"/>
          </a:p>
        </p:txBody>
      </p:sp>
      <p:sp>
        <p:nvSpPr>
          <p:cNvPr id="20" name="Etapa Factura"/>
          <p:cNvSpPr/>
          <p:nvPr/>
        </p:nvSpPr>
        <p:spPr>
          <a:xfrm>
            <a:off x="7406640" y="3840480"/>
            <a:ext cx="1280160" cy="566928"/>
          </a:xfrm>
          <a:prstGeom prst="roundRect">
            <a:avLst>
              <a:gd name="adj" fmla="val 50000"/>
            </a:avLst>
          </a:prstGeom>
          <a:solidFill>
            <a:srgbClr val="6B1E2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406640" y="38404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Planteamiento del problema</a:t>
            </a:r>
            <a:endParaRPr lang="en-US" sz="3200" dirty="0"/>
          </a:p>
        </p:txBody>
      </p:sp>
      <p:sp>
        <p:nvSpPr>
          <p:cNvPr id="4" name="Tarjeta Comandas"/>
          <p:cNvSpPr/>
          <p:nvPr/>
        </p:nvSpPr>
        <p:spPr>
          <a:xfrm>
            <a:off x="457200" y="1143000"/>
            <a:ext cx="2651760" cy="1261872"/>
          </a:xfrm>
          <a:prstGeom prst="roundRect">
            <a:avLst>
              <a:gd name="adj" fmla="val 7246"/>
            </a:avLst>
          </a:prstGeom>
          <a:solidFill>
            <a:srgbClr val="F6EEF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252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Comandas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5727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en papel que se pierden; salón y cocina sin comunicación inmediata.</a:t>
            </a:r>
            <a:endParaRPr lang="en-US" sz="1400" dirty="0"/>
          </a:p>
        </p:txBody>
      </p:sp>
      <p:sp>
        <p:nvSpPr>
          <p:cNvPr id="7" name="Tarjeta Pedidos y reservas"/>
          <p:cNvSpPr/>
          <p:nvPr/>
        </p:nvSpPr>
        <p:spPr>
          <a:xfrm>
            <a:off x="3246120" y="1143000"/>
            <a:ext cx="2651760" cy="1261872"/>
          </a:xfrm>
          <a:prstGeom prst="roundRect">
            <a:avLst>
              <a:gd name="adj" fmla="val 7246"/>
            </a:avLst>
          </a:prstGeom>
          <a:solidFill>
            <a:srgbClr val="F6EEF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429000" y="1252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Pedidos y reservas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15727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por teléfono, cruces de mesa y cliente sin saber el estado de su pedido.</a:t>
            </a:r>
            <a:endParaRPr lang="en-US" sz="1400" dirty="0"/>
          </a:p>
        </p:txBody>
      </p:sp>
      <p:sp>
        <p:nvSpPr>
          <p:cNvPr id="10" name="Tarjeta Caja"/>
          <p:cNvSpPr/>
          <p:nvPr/>
        </p:nvSpPr>
        <p:spPr>
          <a:xfrm>
            <a:off x="6035040" y="1143000"/>
            <a:ext cx="2651760" cy="1261872"/>
          </a:xfrm>
          <a:prstGeom prst="roundRect">
            <a:avLst>
              <a:gd name="adj" fmla="val 7246"/>
            </a:avLst>
          </a:prstGeom>
          <a:solidFill>
            <a:srgbClr val="F6EEF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17920" y="1252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Caja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15727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a mano, cierres sin respaldo y pagos sin verificar.</a:t>
            </a:r>
            <a:endParaRPr lang="en-US" sz="1400" dirty="0"/>
          </a:p>
        </p:txBody>
      </p:sp>
      <p:sp>
        <p:nvSpPr>
          <p:cNvPr id="13" name="Tarjeta Inventario"/>
          <p:cNvSpPr/>
          <p:nvPr/>
        </p:nvSpPr>
        <p:spPr>
          <a:xfrm>
            <a:off x="457200" y="2514600"/>
            <a:ext cx="2651760" cy="1261872"/>
          </a:xfrm>
          <a:prstGeom prst="roundRect">
            <a:avLst>
              <a:gd name="adj" fmla="val 7246"/>
            </a:avLst>
          </a:prstGeom>
          <a:solidFill>
            <a:srgbClr val="F6EEF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2624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29443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Existencias desactualizadas y ventas de productos agotados.</a:t>
            </a:r>
            <a:endParaRPr lang="en-US" sz="1400" dirty="0"/>
          </a:p>
        </p:txBody>
      </p:sp>
      <p:sp>
        <p:nvSpPr>
          <p:cNvPr id="16" name="Tarjeta Administración"/>
          <p:cNvSpPr/>
          <p:nvPr/>
        </p:nvSpPr>
        <p:spPr>
          <a:xfrm>
            <a:off x="3246120" y="2514600"/>
            <a:ext cx="2651760" cy="1261872"/>
          </a:xfrm>
          <a:prstGeom prst="roundRect">
            <a:avLst>
              <a:gd name="adj" fmla="val 7246"/>
            </a:avLst>
          </a:prstGeom>
          <a:solidFill>
            <a:srgbClr val="F6EEF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429000" y="2624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Administración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429000" y="29443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dispersa y sin registro de quién hizo cada acción.</a:t>
            </a:r>
            <a:endParaRPr lang="en-US" sz="1400" dirty="0"/>
          </a:p>
        </p:txBody>
      </p:sp>
      <p:sp>
        <p:nvSpPr>
          <p:cNvPr id="19" name="Cifra"/>
          <p:cNvSpPr/>
          <p:nvPr/>
        </p:nvSpPr>
        <p:spPr>
          <a:xfrm>
            <a:off x="6035040" y="2514600"/>
            <a:ext cx="2651760" cy="1261872"/>
          </a:xfrm>
          <a:prstGeom prst="roundRect">
            <a:avLst>
              <a:gd name="adj" fmla="val 7246"/>
            </a:avLst>
          </a:prstGeom>
          <a:solidFill>
            <a:srgbClr val="6B1E2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17920" y="256032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9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21" name="Text 18"/>
          <p:cNvSpPr txBox="1"/>
          <p:nvPr/>
        </p:nvSpPr>
        <p:spPr>
          <a:xfrm>
            <a:off x="6995160" y="26974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con procesos manuales desconectados</a:t>
            </a:r>
            <a:endParaRPr lang="en-US" sz="1400" dirty="0"/>
          </a:p>
        </p:txBody>
      </p:sp>
      <p:sp>
        <p:nvSpPr>
          <p:cNvPr id="22" name="Pregunta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2A0B1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5800" y="39319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integrar en una sola plataforma reservas, comandas, pedidos, caja e inventario para reducir errores y contar con información confiable en tiempo real?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</a:t>
            </a:r>
            <a:endParaRPr lang="en-US" sz="3200" dirty="0"/>
          </a:p>
        </p:txBody>
      </p:sp>
      <p:sp>
        <p:nvSpPr>
          <p:cNvPr id="4" name="Objetivo"/>
          <p:cNvSpPr/>
          <p:nvPr/>
        </p:nvSpPr>
        <p:spPr>
          <a:xfrm>
            <a:off x="457200" y="1188720"/>
            <a:ext cx="8229600" cy="1783080"/>
          </a:xfrm>
          <a:prstGeom prst="roundRect">
            <a:avLst>
              <a:gd name="adj" fmla="val 5128"/>
            </a:avLst>
          </a:prstGeom>
          <a:solidFill>
            <a:srgbClr val="6B1E2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680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 implementar Saborator, un sistema web que integre reservas, pedidos, cocina, domicilios, caja, inventario e informes, con acceso diferenciado para seis roles y registro digital, trazable y seguro del ciclo completo del pedido.</a:t>
            </a:r>
            <a:endParaRPr lang="en-US" sz="1800" dirty="0"/>
          </a:p>
        </p:txBody>
      </p:sp>
      <p:sp>
        <p:nvSpPr>
          <p:cNvPr id="6" name="Indicador 1"/>
          <p:cNvSpPr/>
          <p:nvPr/>
        </p:nvSpPr>
        <p:spPr>
          <a:xfrm>
            <a:off x="457200" y="32004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6EE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3291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de 6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con funciones propias</a:t>
            </a:r>
            <a:endParaRPr lang="en-US" sz="1400" dirty="0"/>
          </a:p>
        </p:txBody>
      </p:sp>
      <p:sp>
        <p:nvSpPr>
          <p:cNvPr id="9" name="Indicador 2"/>
          <p:cNvSpPr/>
          <p:nvPr/>
        </p:nvSpPr>
        <p:spPr>
          <a:xfrm>
            <a:off x="3246120" y="32004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6EEF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429000" y="3291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pedidos con estado verificable</a:t>
            </a:r>
            <a:endParaRPr lang="en-US" sz="1400" dirty="0"/>
          </a:p>
        </p:txBody>
      </p:sp>
      <p:sp>
        <p:nvSpPr>
          <p:cNvPr id="12" name="Indicador 3"/>
          <p:cNvSpPr/>
          <p:nvPr/>
        </p:nvSpPr>
        <p:spPr>
          <a:xfrm>
            <a:off x="6035040" y="32004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6EEF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17920" y="3291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por turno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arqueo de caja con diferencia automática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y arquitectura</a:t>
            </a:r>
            <a:endParaRPr lang="en-US" sz="3200" dirty="0"/>
          </a:p>
        </p:txBody>
      </p:sp>
      <p:sp>
        <p:nvSpPr>
          <p:cNvPr id="4" name="Capa Cliente"/>
          <p:cNvSpPr/>
          <p:nvPr/>
        </p:nvSpPr>
        <p:spPr>
          <a:xfrm>
            <a:off x="457200" y="1188720"/>
            <a:ext cx="1325880" cy="749808"/>
          </a:xfrm>
          <a:prstGeom prst="roundRect">
            <a:avLst>
              <a:gd name="adj" fmla="val 9756"/>
            </a:avLst>
          </a:prstGeom>
          <a:solidFill>
            <a:srgbClr val="6B1E2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1600" dirty="0"/>
          </a:p>
        </p:txBody>
      </p:sp>
      <p:sp>
        <p:nvSpPr>
          <p:cNvPr id="6" name="Detalle Cliente"/>
          <p:cNvSpPr/>
          <p:nvPr/>
        </p:nvSpPr>
        <p:spPr>
          <a:xfrm>
            <a:off x="1874520" y="1188720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F6EE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011680" y="118872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en PC, tableta o móvil: vistas Razor, JavaScript y módulo React</a:t>
            </a:r>
            <a:endParaRPr lang="en-US" sz="1400" dirty="0"/>
          </a:p>
        </p:txBody>
      </p:sp>
      <p:sp>
        <p:nvSpPr>
          <p:cNvPr id="8" name="Capa Servidor"/>
          <p:cNvSpPr/>
          <p:nvPr/>
        </p:nvSpPr>
        <p:spPr>
          <a:xfrm>
            <a:off x="457200" y="2048256"/>
            <a:ext cx="1325880" cy="749808"/>
          </a:xfrm>
          <a:prstGeom prst="roundRect">
            <a:avLst>
              <a:gd name="adj" fmla="val 9756"/>
            </a:avLst>
          </a:prstGeom>
          <a:solidFill>
            <a:srgbClr val="8E2C3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2048256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</a:t>
            </a:r>
            <a:endParaRPr lang="en-US" sz="1600" dirty="0"/>
          </a:p>
        </p:txBody>
      </p:sp>
      <p:sp>
        <p:nvSpPr>
          <p:cNvPr id="10" name="Detalle Servidor"/>
          <p:cNvSpPr/>
          <p:nvPr/>
        </p:nvSpPr>
        <p:spPr>
          <a:xfrm>
            <a:off x="1874520" y="2048256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F6EEF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011680" y="2048256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(.NET 10), MVC, servicios de negocio y SignalR en tiempo real</a:t>
            </a:r>
            <a:endParaRPr lang="en-US" sz="1400" dirty="0"/>
          </a:p>
        </p:txBody>
      </p:sp>
      <p:sp>
        <p:nvSpPr>
          <p:cNvPr id="12" name="Capa Datos"/>
          <p:cNvSpPr/>
          <p:nvPr/>
        </p:nvSpPr>
        <p:spPr>
          <a:xfrm>
            <a:off x="457200" y="2907792"/>
            <a:ext cx="1325880" cy="749808"/>
          </a:xfrm>
          <a:prstGeom prst="roundRect">
            <a:avLst>
              <a:gd name="adj" fmla="val 9756"/>
            </a:avLst>
          </a:prstGeom>
          <a:solidFill>
            <a:srgbClr val="6B1E2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7200" y="2907792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600" dirty="0"/>
          </a:p>
        </p:txBody>
      </p:sp>
      <p:sp>
        <p:nvSpPr>
          <p:cNvPr id="14" name="Detalle Datos"/>
          <p:cNvSpPr/>
          <p:nvPr/>
        </p:nvSpPr>
        <p:spPr>
          <a:xfrm>
            <a:off x="1874520" y="2907792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F6EEF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011680" y="2907792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con Entity Framework Core; SQLite de respaldo</a:t>
            </a:r>
            <a:endParaRPr lang="en-US" sz="1400" dirty="0"/>
          </a:p>
        </p:txBody>
      </p:sp>
      <p:sp>
        <p:nvSpPr>
          <p:cNvPr id="16" name="Capa Externos"/>
          <p:cNvSpPr/>
          <p:nvPr/>
        </p:nvSpPr>
        <p:spPr>
          <a:xfrm>
            <a:off x="457200" y="3767328"/>
            <a:ext cx="1325880" cy="749808"/>
          </a:xfrm>
          <a:prstGeom prst="roundRect">
            <a:avLst>
              <a:gd name="adj" fmla="val 9756"/>
            </a:avLst>
          </a:prstGeom>
          <a:solidFill>
            <a:srgbClr val="8E2C3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767328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Externos</a:t>
            </a:r>
            <a:endParaRPr lang="en-US" sz="1600" dirty="0"/>
          </a:p>
        </p:txBody>
      </p:sp>
      <p:sp>
        <p:nvSpPr>
          <p:cNvPr id="18" name="Detalle Externos"/>
          <p:cNvSpPr/>
          <p:nvPr/>
        </p:nvSpPr>
        <p:spPr>
          <a:xfrm>
            <a:off x="1874520" y="3767328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F6EEF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011680" y="376732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Wompi (pagos), correo y SMS/WhatsApp para OTP, Google Sign-In</a:t>
            </a:r>
            <a:endParaRPr lang="en-US" sz="1400" dirty="0"/>
          </a:p>
        </p:txBody>
      </p:sp>
      <p:sp>
        <p:nvSpPr>
          <p:cNvPr id="20" name="Calidad"/>
          <p:cNvSpPr/>
          <p:nvPr/>
        </p:nvSpPr>
        <p:spPr>
          <a:xfrm>
            <a:off x="5852160" y="1188720"/>
            <a:ext cx="2834640" cy="3255264"/>
          </a:xfrm>
          <a:prstGeom prst="roundRect">
            <a:avLst>
              <a:gd name="adj" fmla="val 3226"/>
            </a:avLst>
          </a:prstGeom>
          <a:solidFill>
            <a:srgbClr val="2A0B1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08076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9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y seguridad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080760" y="182880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por rol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cifradas (BCrypt)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de pago verificado en el servidor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métodos de prueba (xUnit)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Cliente: carta, reserva y pedido</a:t>
            </a:r>
            <a:endParaRPr lang="en-US" sz="3200" dirty="0"/>
          </a:p>
        </p:txBody>
      </p:sp>
      <p:sp>
        <p:nvSpPr>
          <p:cNvPr id="4" name="Paso 1"/>
          <p:cNvSpPr/>
          <p:nvPr/>
        </p:nvSpPr>
        <p:spPr>
          <a:xfrm>
            <a:off x="457200" y="1298448"/>
            <a:ext cx="502920" cy="502920"/>
          </a:xfrm>
          <a:prstGeom prst="ellipse">
            <a:avLst/>
          </a:prstGeom>
          <a:solidFill>
            <a:srgbClr val="6B1E2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1887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la carta digital con ingredientes y alérgenos</a:t>
            </a:r>
            <a:endParaRPr lang="en-US" sz="1500" dirty="0"/>
          </a:p>
        </p:txBody>
      </p:sp>
      <p:sp>
        <p:nvSpPr>
          <p:cNvPr id="7" name="Paso 2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rgbClr val="6B1E2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203911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mesa: fecha, turno y plano interactivo</a:t>
            </a:r>
            <a:endParaRPr lang="en-US" sz="1500" dirty="0"/>
          </a:p>
        </p:txBody>
      </p:sp>
      <p:sp>
        <p:nvSpPr>
          <p:cNvPr id="10" name="Paso 3"/>
          <p:cNvSpPr/>
          <p:nvPr/>
        </p:nvSpPr>
        <p:spPr>
          <a:xfrm>
            <a:off x="457200" y="2999232"/>
            <a:ext cx="502920" cy="502920"/>
          </a:xfrm>
          <a:prstGeom prst="ellipse">
            <a:avLst/>
          </a:prstGeom>
          <a:solidFill>
            <a:srgbClr val="6B1E2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889504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su pedido (domicilio o para llevar) con carrito y cupón</a:t>
            </a:r>
            <a:endParaRPr lang="en-US" sz="1500" dirty="0"/>
          </a:p>
        </p:txBody>
      </p:sp>
      <p:sp>
        <p:nvSpPr>
          <p:cNvPr id="13" name="Paso 4"/>
          <p:cNvSpPr/>
          <p:nvPr/>
        </p:nvSpPr>
        <p:spPr>
          <a:xfrm>
            <a:off x="457200" y="3849624"/>
            <a:ext cx="502920" cy="502920"/>
          </a:xfrm>
          <a:prstGeom prst="ellipse">
            <a:avLst/>
          </a:prstGeom>
          <a:solidFill>
            <a:srgbClr val="6B1E2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3739896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el pedido con su código PED-xxxxx</a:t>
            </a:r>
            <a:endParaRPr lang="en-US" sz="1500" dirty="0"/>
          </a:p>
        </p:txBody>
      </p:sp>
      <p:sp>
        <p:nvSpPr>
          <p:cNvPr id="16" name="Marco de captura"/>
          <p:cNvSpPr/>
          <p:nvPr/>
        </p:nvSpPr>
        <p:spPr>
          <a:xfrm>
            <a:off x="5577840" y="1188720"/>
            <a:ext cx="3108960" cy="3246120"/>
          </a:xfrm>
          <a:prstGeom prst="roundRect">
            <a:avLst>
              <a:gd name="adj" fmla="val 2941"/>
            </a:avLst>
          </a:prstGeom>
          <a:solidFill>
            <a:srgbClr val="F6EEF0"/>
          </a:solidFill>
          <a:ln w="12700">
            <a:solidFill>
              <a:srgbClr val="C9B2B8"/>
            </a:solidFill>
            <a:prstDash val="dash"/>
          </a:ln>
        </p:spPr>
      </p:sp>
      <p:sp>
        <p:nvSpPr>
          <p:cNvPr id="17" name="Rol"/>
          <p:cNvSpPr/>
          <p:nvPr/>
        </p:nvSpPr>
        <p:spPr>
          <a:xfrm>
            <a:off x="5806440" y="13716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6B1E2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806440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Rol: Cliente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852160" y="22860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[Insertar captura de pantalla del sistema]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Mesero y Cocina: del salón al plato</a:t>
            </a:r>
            <a:endParaRPr lang="en-US" sz="3200" dirty="0"/>
          </a:p>
        </p:txBody>
      </p:sp>
      <p:sp>
        <p:nvSpPr>
          <p:cNvPr id="4" name="Paso 1"/>
          <p:cNvSpPr/>
          <p:nvPr/>
        </p:nvSpPr>
        <p:spPr>
          <a:xfrm>
            <a:off x="457200" y="1298448"/>
            <a:ext cx="502920" cy="502920"/>
          </a:xfrm>
          <a:prstGeom prst="ellipse">
            <a:avLst/>
          </a:prstGeom>
          <a:solidFill>
            <a:srgbClr val="6B1E2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1887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mesero toma el pedido por mesa, con notas</a:t>
            </a:r>
            <a:endParaRPr lang="en-US" sz="1500" dirty="0"/>
          </a:p>
        </p:txBody>
      </p:sp>
      <p:sp>
        <p:nvSpPr>
          <p:cNvPr id="7" name="Paso 2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rgbClr val="6B1E2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203911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comanda aparece en cocina sin recargar</a:t>
            </a:r>
            <a:endParaRPr lang="en-US" sz="1500" dirty="0"/>
          </a:p>
        </p:txBody>
      </p:sp>
      <p:sp>
        <p:nvSpPr>
          <p:cNvPr id="10" name="Paso 3"/>
          <p:cNvSpPr/>
          <p:nvPr/>
        </p:nvSpPr>
        <p:spPr>
          <a:xfrm>
            <a:off x="457200" y="2999232"/>
            <a:ext cx="502920" cy="502920"/>
          </a:xfrm>
          <a:prstGeom prst="ellipse">
            <a:avLst/>
          </a:prstGeom>
          <a:solidFill>
            <a:srgbClr val="6B1E2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889504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Cocina: Iniciar Preparación y Comanda Lista</a:t>
            </a:r>
            <a:endParaRPr lang="en-US" sz="1500" dirty="0"/>
          </a:p>
        </p:txBody>
      </p:sp>
      <p:sp>
        <p:nvSpPr>
          <p:cNvPr id="13" name="Paso 4"/>
          <p:cNvSpPr/>
          <p:nvPr/>
        </p:nvSpPr>
        <p:spPr>
          <a:xfrm>
            <a:off x="457200" y="3849624"/>
            <a:ext cx="502920" cy="502920"/>
          </a:xfrm>
          <a:prstGeom prst="ellipse">
            <a:avLst/>
          </a:prstGeom>
          <a:solidFill>
            <a:srgbClr val="6B1E2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3739896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mesero ve el cambio de estado</a:t>
            </a:r>
            <a:endParaRPr lang="en-US" sz="1500" dirty="0"/>
          </a:p>
        </p:txBody>
      </p:sp>
      <p:sp>
        <p:nvSpPr>
          <p:cNvPr id="16" name="Marco de captura"/>
          <p:cNvSpPr/>
          <p:nvPr/>
        </p:nvSpPr>
        <p:spPr>
          <a:xfrm>
            <a:off x="5577840" y="1188720"/>
            <a:ext cx="3108960" cy="3246120"/>
          </a:xfrm>
          <a:prstGeom prst="roundRect">
            <a:avLst>
              <a:gd name="adj" fmla="val 2941"/>
            </a:avLst>
          </a:prstGeom>
          <a:solidFill>
            <a:srgbClr val="F6EEF0"/>
          </a:solidFill>
          <a:ln w="12700">
            <a:solidFill>
              <a:srgbClr val="C9B2B8"/>
            </a:solidFill>
            <a:prstDash val="dash"/>
          </a:ln>
        </p:spPr>
      </p:sp>
      <p:sp>
        <p:nvSpPr>
          <p:cNvPr id="17" name="Rol"/>
          <p:cNvSpPr/>
          <p:nvPr/>
        </p:nvSpPr>
        <p:spPr>
          <a:xfrm>
            <a:off x="5806440" y="13716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6B1E2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806440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Rol: Mesero / Cocina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852160" y="22860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[Insertar captura de pantalla del sistema]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Pago en línea con Wompi</a:t>
            </a:r>
            <a:endParaRPr lang="en-US" sz="3200" dirty="0"/>
          </a:p>
        </p:txBody>
      </p:sp>
      <p:sp>
        <p:nvSpPr>
          <p:cNvPr id="4" name="Paso 1"/>
          <p:cNvSpPr/>
          <p:nvPr/>
        </p:nvSpPr>
        <p:spPr>
          <a:xfrm>
            <a:off x="457200" y="1298448"/>
            <a:ext cx="502920" cy="502920"/>
          </a:xfrm>
          <a:prstGeom prst="ellipse">
            <a:avLst/>
          </a:prstGeom>
          <a:solidFill>
            <a:srgbClr val="6B1E2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1887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 con Wompi desde el pedido</a:t>
            </a:r>
            <a:endParaRPr lang="en-US" sz="1500" dirty="0"/>
          </a:p>
        </p:txBody>
      </p:sp>
      <p:sp>
        <p:nvSpPr>
          <p:cNvPr id="7" name="Paso 2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rgbClr val="6B1E2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203911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Tarjeta, Nequi o PSE</a:t>
            </a:r>
            <a:endParaRPr lang="en-US" sz="1500" dirty="0"/>
          </a:p>
        </p:txBody>
      </p:sp>
      <p:sp>
        <p:nvSpPr>
          <p:cNvPr id="10" name="Paso 3"/>
          <p:cNvSpPr/>
          <p:nvPr/>
        </p:nvSpPr>
        <p:spPr>
          <a:xfrm>
            <a:off x="457200" y="2999232"/>
            <a:ext cx="502920" cy="502920"/>
          </a:xfrm>
          <a:prstGeom prst="ellipse">
            <a:avLst/>
          </a:prstGeom>
          <a:solidFill>
            <a:srgbClr val="6B1E2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889504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 con factura y pedido Facturado</a:t>
            </a:r>
            <a:endParaRPr lang="en-US" sz="1500" dirty="0"/>
          </a:p>
        </p:txBody>
      </p:sp>
      <p:sp>
        <p:nvSpPr>
          <p:cNvPr id="13" name="Paso 4"/>
          <p:cNvSpPr/>
          <p:nvPr/>
        </p:nvSpPr>
        <p:spPr>
          <a:xfrm>
            <a:off x="457200" y="3849624"/>
            <a:ext cx="502920" cy="502920"/>
          </a:xfrm>
          <a:prstGeom prst="ellipse">
            <a:avLst/>
          </a:prstGeom>
          <a:solidFill>
            <a:srgbClr val="6B1E2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3739896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rechazado: el sistema lo informa</a:t>
            </a:r>
            <a:endParaRPr lang="en-US" sz="1500" dirty="0"/>
          </a:p>
        </p:txBody>
      </p:sp>
      <p:sp>
        <p:nvSpPr>
          <p:cNvPr id="16" name="Marco de captura"/>
          <p:cNvSpPr/>
          <p:nvPr/>
        </p:nvSpPr>
        <p:spPr>
          <a:xfrm>
            <a:off x="5577840" y="1188720"/>
            <a:ext cx="3108960" cy="3246120"/>
          </a:xfrm>
          <a:prstGeom prst="roundRect">
            <a:avLst>
              <a:gd name="adj" fmla="val 2941"/>
            </a:avLst>
          </a:prstGeom>
          <a:solidFill>
            <a:srgbClr val="F6EEF0"/>
          </a:solidFill>
          <a:ln w="12700">
            <a:solidFill>
              <a:srgbClr val="C9B2B8"/>
            </a:solidFill>
            <a:prstDash val="dash"/>
          </a:ln>
        </p:spPr>
      </p:sp>
      <p:sp>
        <p:nvSpPr>
          <p:cNvPr id="17" name="Rol"/>
          <p:cNvSpPr/>
          <p:nvPr/>
        </p:nvSpPr>
        <p:spPr>
          <a:xfrm>
            <a:off x="5806440" y="13716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6B1E2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806440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Rol: Cliente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852160" y="22860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[Insertar captura de pantalla del sistema]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Cajero: cobro y turno de caja</a:t>
            </a:r>
            <a:endParaRPr lang="en-US" sz="3200" dirty="0"/>
          </a:p>
        </p:txBody>
      </p:sp>
      <p:sp>
        <p:nvSpPr>
          <p:cNvPr id="4" name="Paso 1"/>
          <p:cNvSpPr/>
          <p:nvPr/>
        </p:nvSpPr>
        <p:spPr>
          <a:xfrm>
            <a:off x="457200" y="1298448"/>
            <a:ext cx="502920" cy="502920"/>
          </a:xfrm>
          <a:prstGeom prst="ellipse">
            <a:avLst/>
          </a:prstGeom>
          <a:solidFill>
            <a:srgbClr val="6B1E2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1887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turno con la base inicial en efectivo</a:t>
            </a:r>
            <a:endParaRPr lang="en-US" sz="1500" dirty="0"/>
          </a:p>
        </p:txBody>
      </p:sp>
      <p:sp>
        <p:nvSpPr>
          <p:cNvPr id="7" name="Paso 2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rgbClr val="6B1E2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203911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en caja: medio de pago y propina del 10 %</a:t>
            </a:r>
            <a:endParaRPr lang="en-US" sz="1500" dirty="0"/>
          </a:p>
        </p:txBody>
      </p:sp>
      <p:sp>
        <p:nvSpPr>
          <p:cNvPr id="10" name="Paso 3"/>
          <p:cNvSpPr/>
          <p:nvPr/>
        </p:nvSpPr>
        <p:spPr>
          <a:xfrm>
            <a:off x="457200" y="2999232"/>
            <a:ext cx="502920" cy="502920"/>
          </a:xfrm>
          <a:prstGeom prst="ellipse">
            <a:avLst/>
          </a:prstGeom>
          <a:solidFill>
            <a:srgbClr val="6B1E2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889504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o anula la factura emitida</a:t>
            </a:r>
            <a:endParaRPr lang="en-US" sz="1500" dirty="0"/>
          </a:p>
        </p:txBody>
      </p:sp>
      <p:sp>
        <p:nvSpPr>
          <p:cNvPr id="13" name="Paso 4"/>
          <p:cNvSpPr/>
          <p:nvPr/>
        </p:nvSpPr>
        <p:spPr>
          <a:xfrm>
            <a:off x="457200" y="3849624"/>
            <a:ext cx="502920" cy="502920"/>
          </a:xfrm>
          <a:prstGeom prst="ellipse">
            <a:avLst/>
          </a:prstGeom>
          <a:solidFill>
            <a:srgbClr val="6B1E2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3739896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Arqueo y cierre: efectivo declarado y diferencia</a:t>
            </a:r>
            <a:endParaRPr lang="en-US" sz="1500" dirty="0"/>
          </a:p>
        </p:txBody>
      </p:sp>
      <p:sp>
        <p:nvSpPr>
          <p:cNvPr id="16" name="Marco de captura"/>
          <p:cNvSpPr/>
          <p:nvPr/>
        </p:nvSpPr>
        <p:spPr>
          <a:xfrm>
            <a:off x="5577840" y="1188720"/>
            <a:ext cx="3108960" cy="3246120"/>
          </a:xfrm>
          <a:prstGeom prst="roundRect">
            <a:avLst>
              <a:gd name="adj" fmla="val 2941"/>
            </a:avLst>
          </a:prstGeom>
          <a:solidFill>
            <a:srgbClr val="F6EEF0"/>
          </a:solidFill>
          <a:ln w="12700">
            <a:solidFill>
              <a:srgbClr val="C9B2B8"/>
            </a:solidFill>
            <a:prstDash val="dash"/>
          </a:ln>
        </p:spPr>
      </p:sp>
      <p:sp>
        <p:nvSpPr>
          <p:cNvPr id="17" name="Rol"/>
          <p:cNvSpPr/>
          <p:nvPr/>
        </p:nvSpPr>
        <p:spPr>
          <a:xfrm>
            <a:off x="5806440" y="13716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6B1E2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806440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Rol: Cajero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852160" y="22860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[Insertar captura de pantalla del sistema]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Administrador: informes y control</a:t>
            </a:r>
            <a:endParaRPr lang="en-US" sz="3200" dirty="0"/>
          </a:p>
        </p:txBody>
      </p:sp>
      <p:sp>
        <p:nvSpPr>
          <p:cNvPr id="4" name="Paso 1"/>
          <p:cNvSpPr/>
          <p:nvPr/>
        </p:nvSpPr>
        <p:spPr>
          <a:xfrm>
            <a:off x="457200" y="1298448"/>
            <a:ext cx="502920" cy="502920"/>
          </a:xfrm>
          <a:prstGeom prst="ellipse">
            <a:avLst/>
          </a:prstGeom>
          <a:solidFill>
            <a:srgbClr val="6B1E2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1887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Panel: ventas vs. promedio semanal, ocupación y stock crítico</a:t>
            </a:r>
            <a:endParaRPr lang="en-US" sz="1500" dirty="0"/>
          </a:p>
        </p:txBody>
      </p:sp>
      <p:sp>
        <p:nvSpPr>
          <p:cNvPr id="7" name="Paso 2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rgbClr val="6B1E2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203911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con filtros y exportación a CSV</a:t>
            </a:r>
            <a:endParaRPr lang="en-US" sz="1500" dirty="0"/>
          </a:p>
        </p:txBody>
      </p:sp>
      <p:sp>
        <p:nvSpPr>
          <p:cNvPr id="10" name="Paso 3"/>
          <p:cNvSpPr/>
          <p:nvPr/>
        </p:nvSpPr>
        <p:spPr>
          <a:xfrm>
            <a:off x="457200" y="2999232"/>
            <a:ext cx="502920" cy="502920"/>
          </a:xfrm>
          <a:prstGeom prst="ellipse">
            <a:avLst/>
          </a:prstGeom>
          <a:solidFill>
            <a:srgbClr val="6B1E2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889504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Productos, cupones y personal con roles</a:t>
            </a:r>
            <a:endParaRPr lang="en-US" sz="1500" dirty="0"/>
          </a:p>
        </p:txBody>
      </p:sp>
      <p:sp>
        <p:nvSpPr>
          <p:cNvPr id="13" name="Paso 4"/>
          <p:cNvSpPr/>
          <p:nvPr/>
        </p:nvSpPr>
        <p:spPr>
          <a:xfrm>
            <a:off x="457200" y="3849624"/>
            <a:ext cx="502920" cy="502920"/>
          </a:xfrm>
          <a:prstGeom prst="ellipse">
            <a:avLst/>
          </a:prstGeom>
          <a:solidFill>
            <a:srgbClr val="6B1E2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3739896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Auditoría: quién hizo cada acción</a:t>
            </a:r>
            <a:endParaRPr lang="en-US" sz="1500" dirty="0"/>
          </a:p>
        </p:txBody>
      </p:sp>
      <p:sp>
        <p:nvSpPr>
          <p:cNvPr id="16" name="Marco de captura"/>
          <p:cNvSpPr/>
          <p:nvPr/>
        </p:nvSpPr>
        <p:spPr>
          <a:xfrm>
            <a:off x="5577840" y="1188720"/>
            <a:ext cx="3108960" cy="3246120"/>
          </a:xfrm>
          <a:prstGeom prst="roundRect">
            <a:avLst>
              <a:gd name="adj" fmla="val 2941"/>
            </a:avLst>
          </a:prstGeom>
          <a:solidFill>
            <a:srgbClr val="F6EEF0"/>
          </a:solidFill>
          <a:ln w="12700">
            <a:solidFill>
              <a:srgbClr val="C9B2B8"/>
            </a:solidFill>
            <a:prstDash val="dash"/>
          </a:ln>
        </p:spPr>
      </p:sp>
      <p:sp>
        <p:nvSpPr>
          <p:cNvPr id="17" name="Rol"/>
          <p:cNvSpPr/>
          <p:nvPr/>
        </p:nvSpPr>
        <p:spPr>
          <a:xfrm>
            <a:off x="5806440" y="13716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6B1E2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806440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Rol: Administrador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852160" y="22860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[Insertar captura de pantalla del sistema]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trabajo futuro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9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2000" dirty="0"/>
          </a:p>
        </p:txBody>
      </p:sp>
      <p:sp>
        <p:nvSpPr>
          <p:cNvPr id="5" name="Conclusión 1"/>
          <p:cNvSpPr/>
          <p:nvPr/>
        </p:nvSpPr>
        <p:spPr>
          <a:xfrm>
            <a:off x="457200" y="1737360"/>
            <a:ext cx="411480" cy="411480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0B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procesos que antes estaban separados.</a:t>
            </a:r>
            <a:endParaRPr lang="en-US" sz="1400" dirty="0"/>
          </a:p>
        </p:txBody>
      </p:sp>
      <p:sp>
        <p:nvSpPr>
          <p:cNvPr id="8" name="Conclusión 2"/>
          <p:cNvSpPr/>
          <p:nvPr/>
        </p:nvSpPr>
        <p:spPr>
          <a:xfrm>
            <a:off x="457200" y="2377440"/>
            <a:ext cx="411480" cy="411480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0B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roles: cada persona ve solo lo que necesita.</a:t>
            </a:r>
            <a:endParaRPr lang="en-US" sz="1400" dirty="0"/>
          </a:p>
        </p:txBody>
      </p:sp>
      <p:sp>
        <p:nvSpPr>
          <p:cNvPr id="11" name="Conclusión 3"/>
          <p:cNvSpPr/>
          <p:nvPr/>
        </p:nvSpPr>
        <p:spPr>
          <a:xfrm>
            <a:off x="457200" y="3017520"/>
            <a:ext cx="411480" cy="411480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0B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2971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por capas, pruebas y pagos verificados en el servidor.</a:t>
            </a:r>
            <a:endParaRPr lang="en-US" sz="1400" dirty="0"/>
          </a:p>
        </p:txBody>
      </p:sp>
      <p:sp>
        <p:nvSpPr>
          <p:cNvPr id="14" name="Conclusión 4"/>
          <p:cNvSpPr/>
          <p:nvPr/>
        </p:nvSpPr>
        <p:spPr>
          <a:xfrm>
            <a:off x="457200" y="3657600"/>
            <a:ext cx="411480" cy="411480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5720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0B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3611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del pedido digital, trazable y seguro.</a:t>
            </a:r>
            <a:endParaRPr lang="en-US" sz="1400" dirty="0"/>
          </a:p>
        </p:txBody>
      </p:sp>
      <p:sp>
        <p:nvSpPr>
          <p:cNvPr id="17" name="Trabajo futuro"/>
          <p:cNvSpPr/>
          <p:nvPr/>
        </p:nvSpPr>
        <p:spPr>
          <a:xfrm>
            <a:off x="4937760" y="1188720"/>
            <a:ext cx="3749040" cy="2697480"/>
          </a:xfrm>
          <a:prstGeom prst="roundRect">
            <a:avLst>
              <a:gd name="adj" fmla="val 3390"/>
            </a:avLst>
          </a:prstGeom>
          <a:solidFill>
            <a:srgbClr val="3D142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16636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9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futuro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5166360" y="1828800"/>
            <a:ext cx="3337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electrónica ante la DIAN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para meseros y domiciliarios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Impresión de comandas y costeo de recetas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 avanzados y fidelización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160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Gracias. ¿Preguntas?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41605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[Correo de contacto]  ·  [Enlace del repositorio]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CB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borator SENA">
  <a:themeElements>
    <a:clrScheme name="Saborator SENA">
      <a:dk1>
        <a:srgbClr val="2B2B2B"/>
      </a:dk1>
      <a:lt1>
        <a:srgbClr val="FFFFFF"/>
      </a:lt1>
      <a:dk2>
        <a:srgbClr val="6B1E2E"/>
      </a:dk2>
      <a:lt2>
        <a:srgbClr val="F6EEF0"/>
      </a:lt2>
      <a:accent1>
        <a:srgbClr val="6B1E2E"/>
      </a:accent1>
      <a:accent2>
        <a:srgbClr val="C8973A"/>
      </a:accent2>
      <a:accent3>
        <a:srgbClr val="8E2C3F"/>
      </a:accent3>
      <a:accent4>
        <a:srgbClr val="2A0B13"/>
      </a:accent4>
      <a:accent5>
        <a:srgbClr val="A26769"/>
      </a:accent5>
      <a:accent6>
        <a:srgbClr val="6B5A60"/>
      </a:accent6>
      <a:hlink>
        <a:srgbClr val="6B1E2E"/>
      </a:hlink>
      <a:folHlink>
        <a:srgbClr val="8E2C3F"/>
      </a:folHlink>
    </a:clrScheme>
    <a:fontScheme name="Saborator SEN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Saborator - Sistema de gestión para restaurantes</dc:title>
  <dc:subject>PptxGenJS Presentation</dc:subject>
  <dc:creator>Aprendices ADSO - SENA</dc:creator>
  <cp:lastModifiedBy>Aprendices ADSO - SENA</cp:lastModifiedBy>
  <cp:revision>1</cp:revision>
  <dcterms:created xsi:type="dcterms:W3CDTF">2026-10-22T04:34:16Z</dcterms:created>
  <dcterms:modified xsi:type="dcterms:W3CDTF">2026-10-22T04:34:16Z</dcterms:modified>
</cp:coreProperties>
</file>